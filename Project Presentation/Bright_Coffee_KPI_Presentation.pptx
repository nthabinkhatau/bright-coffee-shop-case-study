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27-9042-A994-D34947EB69FE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27-9042-A994-D34947EB69FE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27-9042-A994-D34947EB69FE}"/>
              </c:ext>
            </c:extLst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27-9042-A994-D34947EB69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Midday</c:v>
                </c:pt>
                <c:pt idx="2">
                  <c:v>Afternoon</c:v>
                </c:pt>
                <c:pt idx="3">
                  <c:v>Evening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388288.67</c:v>
                </c:pt>
                <c:pt idx="1">
                  <c:v>163598.07999999999</c:v>
                </c:pt>
                <c:pt idx="2">
                  <c:v>143989.94</c:v>
                </c:pt>
                <c:pt idx="3">
                  <c:v>2935.64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27-9042-A994-D34947EB69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BD-F344-A040-068FEB135DD0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BD-F344-A040-068FEB135DD0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BD-F344-A040-068FEB135DD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236511.17</c:v>
                </c:pt>
                <c:pt idx="1">
                  <c:v>232243.91</c:v>
                </c:pt>
                <c:pt idx="2">
                  <c:v>230057.25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BD-F344-A040-068FEB135D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(R)</c:v>
                </c:pt>
              </c:strCache>
            </c:strRef>
          </c:tx>
          <c:spPr>
            <a:ln w="381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81677.740000000005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9BC-7942-860A-1C24FFD5DD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F7-D949-9725-3B324C31FE3B}"/>
              </c:ext>
            </c:extLst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F7-D949-9725-3B324C31FE3B}"/>
              </c:ext>
            </c:extLst>
          </c:dPt>
          <c:dPt>
            <c:idx val="2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F7-D949-9725-3B324C31FE3B}"/>
              </c:ext>
            </c:extLst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F7-D949-9725-3B324C31FE3B}"/>
              </c:ext>
            </c:extLst>
          </c:dPt>
          <c:dPt>
            <c:idx val="4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F7-D949-9725-3B324C31FE3B}"/>
              </c:ext>
            </c:extLst>
          </c:dPt>
          <c:dPt>
            <c:idx val="5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F7-D949-9725-3B324C31FE3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F7-D949-9725-3B324C31FE3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F7-D949-9725-3B324C31FE3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F7-D949-9725-3B324C31FE3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F7-D949-9725-3B324C31FE3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F7-D949-9725-3B324C31FE3B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F7-D949-9725-3B324C31FE3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</c:v>
                </c:pt>
                <c:pt idx="4">
                  <c:v>Coffee Beans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40085.25</c:v>
                </c:pt>
                <c:pt idx="5">
                  <c:v>37636.04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F7-D949-9725-3B324C31FE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Avg Spend per Transaction (R)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(R)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38-734A-835C-9FDFD138EBA8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38-734A-835C-9FDFD138EBA8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38-734A-835C-9FDFD138EBA8}"/>
              </c:ext>
            </c:extLst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F38-734A-835C-9FDFD138EBA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  <c:pt idx="3">
                  <c:v>Overall Avg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4.59</c:v>
                </c:pt>
                <c:pt idx="1">
                  <c:v>4.66</c:v>
                </c:pt>
                <c:pt idx="2">
                  <c:v>4.8099999999999996</c:v>
                </c:pt>
                <c:pt idx="3">
                  <c:v>4.6900000000000004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F38-734A-835C-9FDFD138EB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Avg Daily Revenue by Store (R)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Rev (R)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D14-AA45-9317-9FAA698F6E06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14-AA45-9317-9FAA698F6E06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14-AA45-9317-9FAA698F6E0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1283.1199999999999</c:v>
                </c:pt>
                <c:pt idx="1">
                  <c:v>1306.69</c:v>
                </c:pt>
                <c:pt idx="2">
                  <c:v>1271.03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D14-AA45-9317-9FAA698F6E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Monthly Avg Daily Revenue — All Stores Combined (R)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Avg Daily (R)</c:v>
                </c:pt>
              </c:strCache>
            </c:strRef>
          </c:tx>
          <c:spPr>
            <a:ln w="31750" cap="flat">
              <a:solidFill>
                <a:srgbClr val="EC48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C4899"/>
              </a:solidFill>
              <a:ln w="9525" cap="flat">
                <a:solidFill>
                  <a:srgbClr val="EC489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2634.77</c:v>
                </c:pt>
                <c:pt idx="1">
                  <c:v>2719.47</c:v>
                </c:pt>
                <c:pt idx="2">
                  <c:v>3188.22</c:v>
                </c:pt>
                <c:pt idx="3">
                  <c:v>3964.7</c:v>
                </c:pt>
                <c:pt idx="4">
                  <c:v>5055.7299999999996</c:v>
                </c:pt>
                <c:pt idx="5">
                  <c:v>5549.53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FA9-104F-94DC-BD81B2BF6E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A8C6F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C7-9C4A-A795-4CB1D5424C7B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C7-9C4A-A795-4CB1D5424C7B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C7-9C4A-A795-4CB1D5424C7B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C7-9C4A-A795-4CB1D5424C7B}"/>
              </c:ext>
            </c:extLst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C7-9C4A-A795-4CB1D5424C7B}"/>
              </c:ext>
            </c:extLst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0C7-9C4A-A795-4CB1D5424C7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81677.740000000005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0C7-9C4A-A795-4CB1D5424C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June 2023 — Cumulative MTD Revenue (R)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MTD (R)</c:v>
                </c:pt>
              </c:strCache>
            </c:strRef>
          </c:tx>
          <c:spPr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Day 1</c:v>
                </c:pt>
                <c:pt idx="1">
                  <c:v>Day 5</c:v>
                </c:pt>
                <c:pt idx="2">
                  <c:v>Day 10</c:v>
                </c:pt>
                <c:pt idx="3">
                  <c:v>Day 15</c:v>
                </c:pt>
                <c:pt idx="4">
                  <c:v>Day 20</c:v>
                </c:pt>
                <c:pt idx="5">
                  <c:v>Day 25</c:v>
                </c:pt>
                <c:pt idx="6">
                  <c:v>Day 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5227</c:v>
                </c:pt>
                <c:pt idx="1">
                  <c:v>25346.45</c:v>
                </c:pt>
                <c:pt idx="2">
                  <c:v>52473.95</c:v>
                </c:pt>
                <c:pt idx="3">
                  <c:v>81053.38</c:v>
                </c:pt>
                <c:pt idx="4">
                  <c:v>111107.07</c:v>
                </c:pt>
                <c:pt idx="5">
                  <c:v>139973.35999999999</c:v>
                </c:pt>
                <c:pt idx="6">
                  <c:v>166485.88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778-8B4E-AF5D-C86F935464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D4-1041-8FDE-1CF085FFCFDB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D4-1041-8FDE-1CF085FFCFDB}"/>
              </c:ext>
            </c:extLst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D4-1041-8FDE-1CF085FFCFDB}"/>
              </c:ext>
            </c:extLst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D4-1041-8FDE-1CF085FFCFDB}"/>
              </c:ext>
            </c:extLst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8D4-1041-8FDE-1CF085FFCFDB}"/>
              </c:ext>
            </c:extLst>
          </c:dPt>
          <c:dPt>
            <c:idx val="5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8D4-1041-8FDE-1CF085FFCFDB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8D4-1041-8FDE-1CF085FFCFD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101677.28</c:v>
                </c:pt>
                <c:pt idx="1">
                  <c:v>101373</c:v>
                </c:pt>
                <c:pt idx="2">
                  <c:v>100767.78</c:v>
                </c:pt>
                <c:pt idx="3">
                  <c:v>100313.54</c:v>
                </c:pt>
                <c:pt idx="4">
                  <c:v>99455.94</c:v>
                </c:pt>
                <c:pt idx="5">
                  <c:v>98330.31</c:v>
                </c:pt>
                <c:pt idx="6">
                  <c:v>96894.48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8D4-1041-8FDE-1CF085FFCF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9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91440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☕  BRIGHT COFFEE SHOP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Performance Dashboard  |  January – June 2023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698,812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149,116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Stores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Locations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1920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2971800"/>
            <a:ext cx="1920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0" y="2999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Product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(38.6%)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1920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999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Month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2971800"/>
            <a:ext cx="1920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2999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Time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(55.6%)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388620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00507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Presentation By Nthabiseng Nkhatau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4663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NYC Locations: Hell's Kitchen  ·  Astoria  ·  Lower Manhattan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☕KPIs Covered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0574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7498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Rev by Time  - Hour 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749808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41448" y="749808"/>
            <a:ext cx="20574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41448" y="7498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41448" y="1097280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Rev by Store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54296" y="749808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54296" y="749808"/>
            <a:ext cx="205740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54296" y="7498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54296" y="1097280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Rev by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67144" y="749808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67144" y="749808"/>
            <a:ext cx="205740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67144" y="7498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67144" y="1097280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Products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11400" y="410108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41448" y="21671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54296" y="21671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67144" y="21671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8600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41448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54296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67144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8600" y="50017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⏰  KPI 1 — Revenue by Time of Day  |  Tab: ⏰ Rev by Time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694944"/>
            <a:ext cx="3017520" cy="822960"/>
          </a:xfrm>
          <a:prstGeom prst="rect">
            <a:avLst/>
          </a:prstGeom>
          <a:solidFill>
            <a:srgbClr val="EFF6FF"/>
          </a:solidFill>
          <a:ln w="2540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06440" y="7498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55.6%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806440" y="1115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0" y="1115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388,289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655064"/>
            <a:ext cx="3017520" cy="822960"/>
          </a:xfrm>
          <a:prstGeom prst="rect">
            <a:avLst/>
          </a:prstGeom>
          <a:solidFill>
            <a:srgbClr val="EFF6FF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06440" y="17099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23.4%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806440" y="20756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20756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163,598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2615184"/>
            <a:ext cx="3017520" cy="8229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06440" y="26700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20.6%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806440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0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143,990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06440" y="3575304"/>
            <a:ext cx="3017520" cy="822960"/>
          </a:xfrm>
          <a:prstGeom prst="rect">
            <a:avLst/>
          </a:prstGeom>
          <a:solidFill>
            <a:srgbClr val="EFF6FF"/>
          </a:solidFill>
          <a:ln w="25400">
            <a:solidFill>
              <a:srgbClr val="94A3B8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06440" y="36301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806440" y="399592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0" y="399592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2,936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Morning drives 55.6% of all revenue. Evening is only 0.4% (R 2,936) — a significant opportunity for late-day promotions.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🏪  KPI 2 — Revenue by Store Location  |  Tab: 🏪 Rev by Store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694944"/>
            <a:ext cx="3017520" cy="841248"/>
          </a:xfrm>
          <a:prstGeom prst="rect">
            <a:avLst/>
          </a:prstGeom>
          <a:solidFill>
            <a:srgbClr val="EFF6FF"/>
          </a:solidFill>
          <a:ln w="2540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06440" y="749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🥇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06440" y="10424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06440" y="127101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236,511  (33.8%)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682496"/>
            <a:ext cx="3017520" cy="841248"/>
          </a:xfrm>
          <a:prstGeom prst="rect">
            <a:avLst/>
          </a:prstGeom>
          <a:solidFill>
            <a:srgbClr val="EFF6FF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0644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 🥈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06440" y="202996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Astoria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225856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232,244  (33.2%)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2670048"/>
            <a:ext cx="3017520" cy="841248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06440" y="2724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 🥉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06440" y="30175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32461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230,057  (32.9%)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767328"/>
            <a:ext cx="8595360" cy="804672"/>
          </a:xfrm>
          <a:prstGeom prst="rect">
            <a:avLst/>
          </a:prstGeom>
          <a:solidFill>
            <a:srgbClr val="ECFE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379476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Revenue splits are near-perfectly equal across all 3 stores (33–34% each). The gap between #1 and #3 is only R 6,454 — a remarkably balanced network.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single store dominates — healthy diversification. Replicate Hell's Kitchen best practices across all locations.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KPI 3 — Revenue by Month / Busiest Month  |  Tab: 📅 Rev by Month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694944"/>
            <a:ext cx="27432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26480" y="7589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66560" y="7589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81,678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92440" y="75895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261872"/>
            <a:ext cx="27432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26480" y="13258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3258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76,145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92440" y="13258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-6.8%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1828800"/>
            <a:ext cx="27432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26480" y="18928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189280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98,835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92440" y="18928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+29.8%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2395728"/>
            <a:ext cx="27432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26480" y="24597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66560" y="245973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118,941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92440" y="24597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+20.3%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26480" y="2962656"/>
            <a:ext cx="27432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26480" y="302666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30266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156,728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92440" y="3026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+31.8%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26480" y="3529584"/>
            <a:ext cx="2743200" cy="475488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26480" y="35935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★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66560" y="35935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166,486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92440" y="35935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Revenue grew +103.8% from January to June. After a Feb dip, 4 consecutive months of strong growth. June was the busiest month!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KPI 4 — Best Performing Products  |  Tab: 🏆 Best Products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658368"/>
          <a:ext cx="4389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00600" y="694944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800600" y="694944"/>
            <a:ext cx="32004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20640" y="74980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74980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43800" y="74980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269,952  (38.6%)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1316736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00600" y="1316736"/>
            <a:ext cx="32004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20640" y="13716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577840" y="1371600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43800" y="137160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196,406  (28.1%)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00600" y="1938528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00600" y="1938528"/>
            <a:ext cx="320040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20640" y="19933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🥉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577840" y="199339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43800" y="199339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82,316  (11.8%)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00600" y="2560320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00600" y="2560320"/>
            <a:ext cx="320040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20640" y="261518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577840" y="261518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Chocolate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543800" y="261518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72,416  (10.4%)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00600" y="3182112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00600" y="3182112"/>
            <a:ext cx="320040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120640" y="323697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577840" y="323697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Beans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543800" y="3236976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40,085  (5.7%)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00600" y="3803904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00600" y="3803904"/>
            <a:ext cx="32004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120640" y="38587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6+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577840" y="385876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/ Others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543800" y="385876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37,637  (5.4%)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Coffee + Tea = 66.7% of all revenue. Core beverages must remain the focus. Bakery at 11.8% is a strong upsell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💳📈  KPI 5 &amp; 6 — Avg Spend per Transaction &amp; Avg Daily Revenue by Store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658368"/>
          <a:ext cx="4206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09160" y="658368"/>
          <a:ext cx="4206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228600" y="3246120"/>
          <a:ext cx="86868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Lower Manhattan leads avg spend (R 4.81). Hell's Kitchen has the highest avg daily revenue (R 1,306.69). All stores are growing.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📉🔄  KPI 7 &amp; 9 — Revenue Growth &amp; Month-over-Month Analysis  |  Tabs: 📉 Rev Growth · 🔄 MoM Growth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68496"/>
            <a:ext cx="1325880" cy="658368"/>
          </a:xfrm>
          <a:prstGeom prst="rect">
            <a:avLst/>
          </a:prstGeom>
          <a:solidFill>
            <a:srgbClr val="EFF6FF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19072" y="3968496"/>
            <a:ext cx="1325880" cy="658368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719072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19072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-6.8%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63824" y="3968496"/>
            <a:ext cx="1325880" cy="658368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63824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163824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+29.8%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08576" y="3968496"/>
            <a:ext cx="1325880" cy="658368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08576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08576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+20.3%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53328" y="3968496"/>
            <a:ext cx="1325880" cy="658368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53328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53328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+31.8%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98080" y="3968496"/>
            <a:ext cx="1325880" cy="658368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498080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0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+6.2%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Revenue doubled Jan→Jun (+103.8%). May showed the strongest MoM growth (+31.8%). Only February declined (-6.8%).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🗓  KPI 8 — Month-to-Date (MTD) Revenue — June 2023  |  Tab: 🗓 MTD Revenue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713232"/>
            <a:ext cx="2880360" cy="749808"/>
          </a:xfrm>
          <a:prstGeom prst="rect">
            <a:avLst/>
          </a:prstGeom>
          <a:solidFill>
            <a:srgbClr val="EFF6FF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0" y="749808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43600" y="96926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5,227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943600" y="1243584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of month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0" y="1600200"/>
            <a:ext cx="2880360" cy="749808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0" y="1636776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18562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81,053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943600" y="213055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48.7% of month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0" y="2487168"/>
            <a:ext cx="2880360" cy="749808"/>
          </a:xfrm>
          <a:prstGeom prst="rect">
            <a:avLst/>
          </a:prstGeom>
          <a:solidFill>
            <a:srgbClr val="EFF6FF"/>
          </a:solidFill>
          <a:ln w="2540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0" y="252374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27432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6,404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day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43600" y="3374136"/>
            <a:ext cx="2880360" cy="749808"/>
          </a:xfrm>
          <a:prstGeom prst="rect">
            <a:avLst/>
          </a:prstGeom>
          <a:solidFill>
            <a:srgbClr val="EFF6FF"/>
          </a:solidFill>
          <a:ln w="2540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0" y="3410712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0" y="36301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166,486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943600" y="3904488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Month Close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June revenue built steadily each day. Day 19 peaked at R 6,404. Consistent R 4,500–R 6,400 daily range throughout the month.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🔝  KPI 10 — Highest &amp; Lowest Revenue Day of the Week  |  Tab: 🔝 HighLow Day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31920"/>
            <a:ext cx="4114800" cy="749808"/>
          </a:xfrm>
          <a:prstGeom prst="rect">
            <a:avLst/>
          </a:prstGeom>
          <a:solidFill>
            <a:srgbClr val="F0FDF4"/>
          </a:solidFill>
          <a:ln w="3175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39593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🟢  HIGHEST: Monday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4320" y="42336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101,677  |  14.6% of weekly revenue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3931920"/>
            <a:ext cx="4206240" cy="749808"/>
          </a:xfrm>
          <a:prstGeom prst="rect">
            <a:avLst/>
          </a:prstGeom>
          <a:solidFill>
            <a:srgbClr val="FEF2F2"/>
          </a:solidFill>
          <a:ln w="31750">
            <a:solidFill>
              <a:srgbClr val="EF444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63440" y="39593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🔴  LOWEST: Sunday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4233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96,894  |  13.9% of weekly revenue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spread between highest (Monday) and lowest (Sunday) is only R 4,783 — remarkably consistent daily footfall across all 7 days.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📆  PROJECT GANTT CHART — 6 Phases, 16 Weeks  |  Tab: 📆 Project Gantt Chart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59436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128016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9494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Data Sourcing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W1–W2  ·  ✅ Done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06040" y="74980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CSV dataset, GitHub setup, document data schema &amp; fields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362456"/>
            <a:ext cx="8686800" cy="59436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362456"/>
            <a:ext cx="128016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3990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ETL — Ingestion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70078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W2–W3  ·  ✅ Done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1453896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Databricks database, schema, upload CSV data table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066544"/>
            <a:ext cx="8686800" cy="59436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066544"/>
            <a:ext cx="128016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1031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ETL — 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40487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W3–W6  ·  ✅ Done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2157984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time classification, date functions, COUNT DISTINCT, revenue calc, GROUP BY product &amp; store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770632"/>
            <a:ext cx="8686800" cy="59436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770632"/>
            <a:ext cx="128016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8072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Data Visualisation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1089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W6–W9  ·  🔄 In Progress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06040" y="286207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from Databricks, create pivot tables &amp; charts for all 10 KPIs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474720"/>
            <a:ext cx="8686800" cy="59436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3474720"/>
            <a:ext cx="128016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51129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KPI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81304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W8–W10  ·  🔄 In Progress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06040" y="35661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per user, Avg Daily Revenue, Growth, MTD, MoM Growth, Highest/Lowest Day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4178808"/>
            <a:ext cx="8686800" cy="594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4178808"/>
            <a:ext cx="128016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421538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Data Presentation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4517136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W11–W15  ·  📋 Planned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06040" y="427024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dashboard, PowerPoint slides, insights &amp; recommendations, stakeholder review, sign-off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 16-week project (Jan–Jun 2023)  |  Phases 1–3 Complete ✅  |  Phases 4–5 In Progress 🔄  |  Phase 6 Planned 📋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STRATEGIC RECOMMENDATIONS &amp; KEY TAKEAWAYS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425196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6809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⏰  Maximise Morning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= 55.6% of revenue. Invest in morning staffing, loyalty cards, and breakfast bundles to sustain this peak window.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49808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25196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76809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🌙  Unlock Evening Potential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097280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= only 0.4% (R 2,936). Happy hour promotions and evening events could unlock a significant untapped revenue stream.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139696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139696"/>
            <a:ext cx="425196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15798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☕  Leverage Beverage Dominance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2487168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+ Tea = 66.7% of revenue. Seasonal specials and premium roast launches can drive avg spend and transaction value higher.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139696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A855F7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139696"/>
            <a:ext cx="425196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15798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🏪  Sustain Store Balance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487168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stores within 1% of each other. Identify Hell's Kitchen best practices and replicate across Astoria and Lower Manhattan.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29584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529584"/>
            <a:ext cx="425196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54787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Capitalise on H1 Growth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877056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more than doubled Jan–Jun (+103.8%). Target slower months like Feb with proactive marketing campaigns to smooth the curve.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529584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EC4899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529584"/>
            <a:ext cx="4251960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54787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🥐  Grow Food Attach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877056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at 11.8% has strong upsell potential. Coffee + pastry pairing promotions can meaningfully lift basket size and overall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0" y="438912"/>
            <a:ext cx="1828800" cy="18288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0" y="438912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☕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 SHOP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0906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 Analysis  |  January – June 2023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3584448"/>
            <a:ext cx="54864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</a:t>
            </a: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698,812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Transactions: </a:t>
            </a: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149,116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Stores: </a:t>
            </a: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1129</Words>
  <Application>Microsoft Macintosh PowerPoint</Application>
  <PresentationFormat>On-screen Show (16:9)</PresentationFormat>
  <Paragraphs>196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— KPI Dashboard</dc:title>
  <dc:subject>PptxGenJS Presentation</dc:subject>
  <dc:creator>PptxGenJS</dc:creator>
  <cp:lastModifiedBy>Nthabiseng Nkhatau</cp:lastModifiedBy>
  <cp:revision>2</cp:revision>
  <dcterms:created xsi:type="dcterms:W3CDTF">2026-03-31T20:48:05Z</dcterms:created>
  <dcterms:modified xsi:type="dcterms:W3CDTF">2026-03-31T21:46:48Z</dcterms:modified>
</cp:coreProperties>
</file>
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4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27-9042-A994-D34947EB69FE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027-9042-A994-D34947EB69FE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027-9042-A994-D34947EB69FE}"/>
              </c:ext>
            </c:extLst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27-9042-A994-D34947EB69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Morning</c:v>
                </c:pt>
                <c:pt idx="1">
                  <c:v>Midday</c:v>
                </c:pt>
                <c:pt idx="2">
                  <c:v>Afternoon</c:v>
                </c:pt>
                <c:pt idx="3">
                  <c:v>Evening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388288.67</c:v>
                </c:pt>
                <c:pt idx="1">
                  <c:v>163598.07999999999</c:v>
                </c:pt>
                <c:pt idx="2">
                  <c:v>143989.94</c:v>
                </c:pt>
                <c:pt idx="3">
                  <c:v>2935.64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27-9042-A994-D34947EB69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FBD-F344-A040-068FEB135DD0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FBD-F344-A040-068FEB135DD0}"/>
              </c:ext>
            </c:extLst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FBD-F344-A040-068FEB135DD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236511.17</c:v>
                </c:pt>
                <c:pt idx="1">
                  <c:v>232243.91</c:v>
                </c:pt>
                <c:pt idx="2">
                  <c:v>230057.25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FBD-F344-A040-068FEB135DD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(R)</c:v>
                </c:pt>
              </c:strCache>
            </c:strRef>
          </c:tx>
          <c:spPr>
            <a:ln w="38100" cap="flat">
              <a:solidFill>
                <a:srgbClr val="22C55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2C55E"/>
              </a:solidFill>
              <a:ln w="9525" cap="flat">
                <a:solidFill>
                  <a:srgbClr val="22C55E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9BC-7942-860A-1C24FFD5DD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F7-D949-9725-3B324C31FE3B}"/>
              </c:ext>
            </c:extLst>
          </c:dPt>
          <c:dPt>
            <c:idx val="1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F7-D949-9725-3B324C31FE3B}"/>
              </c:ext>
            </c:extLst>
          </c:dPt>
          <c:dPt>
            <c:idx val="2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F7-D949-9725-3B324C31FE3B}"/>
              </c:ext>
            </c:extLst>
          </c:dPt>
          <c:dPt>
            <c:idx val="3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F7-D949-9725-3B324C31FE3B}"/>
              </c:ext>
            </c:extLst>
          </c:dPt>
          <c:dPt>
            <c:idx val="4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F7-D949-9725-3B324C31FE3B}"/>
              </c:ext>
            </c:extLst>
          </c:dPt>
          <c:dPt>
            <c:idx val="5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F7-D949-9725-3B324C31FE3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F7-D949-9725-3B324C31FE3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F7-D949-9725-3B324C31FE3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F7-D949-9725-3B324C31FE3B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F7-D949-9725-3B324C31FE3B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F7-D949-9725-3B324C31FE3B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F7-D949-9725-3B324C31FE3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Coffee</c:v>
                </c:pt>
                <c:pt idx="1">
                  <c:v>Tea</c:v>
                </c:pt>
                <c:pt idx="2">
                  <c:v>Bakery</c:v>
                </c:pt>
                <c:pt idx="3">
                  <c:v>Drinking Choc</c:v>
                </c:pt>
                <c:pt idx="4">
                  <c:v>Coffee Beans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269952.45</c:v>
                </c:pt>
                <c:pt idx="1">
                  <c:v>196405.95</c:v>
                </c:pt>
                <c:pt idx="2">
                  <c:v>82315.64</c:v>
                </c:pt>
                <c:pt idx="3">
                  <c:v>72416</c:v>
                </c:pt>
                <c:pt idx="4">
                  <c:v>40085.25</c:v>
                </c:pt>
                <c:pt idx="5">
                  <c:v>37636.04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F7-D949-9725-3B324C31FE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A8C6F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0C7-9C4A-A795-4CB1D5424C7B}"/>
              </c:ext>
            </c:extLst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0C7-9C4A-A795-4CB1D5424C7B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0C7-9C4A-A795-4CB1D5424C7B}"/>
              </c:ext>
            </c:extLst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0C7-9C4A-A795-4CB1D5424C7B}"/>
              </c:ext>
            </c:extLst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0C7-9C4A-A795-4CB1D5424C7B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0C7-9C4A-A795-4CB1D5424C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81677.740000000005</c:v>
                </c:pt>
                <c:pt idx="1">
                  <c:v>76145.19</c:v>
                </c:pt>
                <c:pt idx="2">
                  <c:v>98834.68</c:v>
                </c:pt>
                <c:pt idx="3">
                  <c:v>118941.08</c:v>
                </c:pt>
                <c:pt idx="4">
                  <c:v>156727.76</c:v>
                </c:pt>
                <c:pt idx="5">
                  <c:v>166485.88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0C7-9C4A-A795-4CB1D5424C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(R)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8D4-1041-8FDE-1CF085FFCFDB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D4-1041-8FDE-1CF085FFCFDB}"/>
              </c:ext>
            </c:extLst>
          </c:dPt>
          <c:dPt>
            <c:idx val="2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8D4-1041-8FDE-1CF085FFCFDB}"/>
              </c:ext>
            </c:extLst>
          </c:dPt>
          <c:dPt>
            <c:idx val="3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8D4-1041-8FDE-1CF085FFCFDB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8D4-1041-8FDE-1CF085FFCFDB}"/>
              </c:ext>
            </c:extLst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8D4-1041-8FDE-1CF085FFCFDB}"/>
              </c:ext>
            </c:extLst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8D4-1041-8FDE-1CF085FFCFD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Monday</c:v>
                </c:pt>
                <c:pt idx="1">
                  <c:v>Tuesday</c:v>
                </c:pt>
                <c:pt idx="2">
                  <c:v>Wednesday</c:v>
                </c:pt>
                <c:pt idx="3">
                  <c:v>Thursday</c:v>
                </c:pt>
                <c:pt idx="4">
                  <c:v>Friday</c:v>
                </c:pt>
                <c:pt idx="5">
                  <c:v>Saturday</c:v>
                </c:pt>
                <c:pt idx="6">
                  <c:v>Sunday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101677.28</c:v>
                </c:pt>
                <c:pt idx="1">
                  <c:v>101373</c:v>
                </c:pt>
                <c:pt idx="2">
                  <c:v>100767.78</c:v>
                </c:pt>
                <c:pt idx="3">
                  <c:v>100313.54</c:v>
                </c:pt>
                <c:pt idx="4">
                  <c:v>99455.94</c:v>
                </c:pt>
                <c:pt idx="5">
                  <c:v>98330.31</c:v>
                </c:pt>
                <c:pt idx="6">
                  <c:v>96894.48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8D4-1041-8FDE-1CF085FFCF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97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143000"/>
            <a:ext cx="9144000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BRIGHT COFFEE SHOP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Performance Dashboard  |  January – June 2023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698,812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149,116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1463040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14173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Stores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126480" y="2377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Locations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Store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56032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(38.6%)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6344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Month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344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2971800"/>
            <a:ext cx="1920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299923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Time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766560" y="32644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(55.6%)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3886200"/>
            <a:ext cx="91440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4320" y="400507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cs typeface="Calibri" pitchFamily="34" charset="-120"/>
              </a:rPr>
              <a:t>Presentation By Nthabiseng Nkhatau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7548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6634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NYC Locations: Hell's Kitchen  ·  Astoria  ·  Lower Manhattan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☕KPIs Covered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0574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Rev by Time  - Hour 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41448" y="749808"/>
            <a:ext cx="20574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41448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41448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Rev by Store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54296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54296" y="749808"/>
            <a:ext cx="20574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54296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54296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Rev by Month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67144" y="749808"/>
            <a:ext cx="205740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A855F7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67144" y="749808"/>
            <a:ext cx="20574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67144" y="74980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67144" y="1097280"/>
            <a:ext cx="2057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Products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11400" y="4101084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5A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41448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6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54296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7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67144" y="216712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8600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41448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10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654296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867144" y="358444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8600" y="5001768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KPI 1 — Revenue by Time of Day  |  Tab: ⏰ Rev by Time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69494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7498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55.6%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806440" y="1115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0" y="111556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388,289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5506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17099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806440" y="20756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Midday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207568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163,598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61518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06440" y="267004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20.6%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80644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0" y="303580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143,990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575304"/>
            <a:ext cx="3017520" cy="822960"/>
          </a:xfrm>
          <a:prstGeom prst="rect">
            <a:avLst/>
          </a:prstGeom>
          <a:solidFill>
            <a:srgbClr val="EFF6FF"/>
          </a:solidFill>
          <a:ln w="25400">
            <a:solidFill>
              <a:srgbClr val="94A3B8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06440" y="36301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5806440" y="3995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315200" y="3995928"/>
            <a:ext cx="1508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2,936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Morning drives 55.6% of all revenue. Evening is only 0.4% (R 2,936) — a significant opportunity for late-day promotions.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 KPI 2 — Revenue by Store Location  |  Tab: 🏪 Rev by Store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30352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694944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7498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🥇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6440" y="1042416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06440" y="12710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236,511  (33.8%)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682496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 🥈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06440" y="20299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Astoria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06440" y="225856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232,244  (33.2%)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670048"/>
            <a:ext cx="3017520" cy="841248"/>
          </a:xfrm>
          <a:prstGeom prst="rect">
            <a:avLst/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06440" y="27249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 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06440" y="30175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806440" y="32461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230,057  (32.9%)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4320" y="3767328"/>
            <a:ext cx="8595360" cy="804672"/>
          </a:xfrm>
          <a:prstGeom prst="rect">
            <a:avLst/>
          </a:prstGeom>
          <a:solidFill>
            <a:srgbClr val="ECFE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57200" y="379476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Revenue splits are near-perfectly equal across all 3 stores (33–34% each). The gap between #1 and #3 is only R 6,454 — a remarkably balanced network.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 single store dominates — healthy diversification. Replicate Hell's Kitchen best practices across all locations.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📅  KPI 3 — Revenue by Month / Busiest Month  |  Tab: 📅 Rev by Month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694944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126480" y="75895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766560" y="7589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81,678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092440" y="75895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1261872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126480" y="132588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1325880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76,145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92440" y="1325880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-6.8%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0" y="1828800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126480" y="189280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1892808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98,835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92440" y="1892808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+29.8%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26480" y="2395728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26480" y="24597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766560" y="2459736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118,941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092440" y="2459736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+20.3%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126480" y="2962656"/>
            <a:ext cx="2743200" cy="475488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126480" y="30266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766560" y="3026664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156,728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8092440" y="3026664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+31.8%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126480" y="3529584"/>
            <a:ext cx="2743200" cy="475488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126480" y="35935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★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66560" y="359359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166,486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92440" y="3593592"/>
            <a:ext cx="777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+6.2%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Revenue grew +103.8% from January to June. After a Feb dip, 4 consecutive months of strong growth. June was the busiest month!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🏆  KPI 4 — Best Performing Products  |  Tab: 🏆 Best Products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82880" y="658368"/>
          <a:ext cx="4389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800600" y="694944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800600" y="694944"/>
            <a:ext cx="32004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120640" y="74980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577840" y="74980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43800" y="74980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269,952  (38.6%)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316736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316736"/>
            <a:ext cx="320040" cy="5303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120640" y="1371600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🥈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577840" y="1371600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43800" y="1371600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196,406  (28.1%)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1938528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800600" y="1938528"/>
            <a:ext cx="320040" cy="5303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120640" y="1993392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🥉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77840" y="1993392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1993392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82,316  (11.8%)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00600" y="2560320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800600" y="2560320"/>
            <a:ext cx="320040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120640" y="2615184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577840" y="2615184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Drinking Chocolate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543800" y="2615184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72,416  (10.4%)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800600" y="3182112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00600" y="3182112"/>
            <a:ext cx="320040" cy="5303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120640" y="3236976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577840" y="3236976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Beans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43800" y="3236976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40,085  (5.7%)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00600" y="3803904"/>
            <a:ext cx="4069080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4800600" y="3803904"/>
            <a:ext cx="320040" cy="5303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120640" y="385876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6+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577840" y="3858768"/>
            <a:ext cx="1965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/ Others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543800" y="3858768"/>
            <a:ext cx="1325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37,637  (5.4%)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Coffee + Tea = 66.7% of all revenue. Core beverages must remain the focus. Bakery at 11.8% is a strong upsell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📉🔄  KPI 5  — Revenue Growth &amp; Month-over-Month Analysis  |  Tabs: 📉 Rev Growth · 🔄 MoM Growth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68496"/>
            <a:ext cx="1325880" cy="658368"/>
          </a:xfrm>
          <a:prstGeom prst="rect">
            <a:avLst/>
          </a:prstGeom>
          <a:solidFill>
            <a:srgbClr val="EFF6FF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719072" y="3968496"/>
            <a:ext cx="1325880" cy="658368"/>
          </a:xfrm>
          <a:prstGeom prst="rect">
            <a:avLst/>
          </a:prstGeom>
          <a:solidFill>
            <a:srgbClr val="FEF2F2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719072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19072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-6.8%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163824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63824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63824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+29.8%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608576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08576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08576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+20.3%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53328" y="3968496"/>
            <a:ext cx="1325880" cy="658368"/>
          </a:xfrm>
          <a:prstGeom prst="rect">
            <a:avLst/>
          </a:prstGeom>
          <a:solidFill>
            <a:srgbClr val="F0FDF4"/>
          </a:solidFill>
          <a:ln w="254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053328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053328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+31.8%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98080" y="3968496"/>
            <a:ext cx="1325880" cy="658368"/>
          </a:xfrm>
          <a:prstGeom prst="rect">
            <a:avLst/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98080" y="3995928"/>
            <a:ext cx="1325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98080" y="4206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+6.2%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Revenue doubled Jan→Jun (+103.8%). May showed the strongest MoM growth (+31.8%). Only February declined (-6.8%).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🔝  </a:t>
            </a:r>
            <a:r>
              <a:rPr lang="en-US" sz="13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6 </a:t>
            </a: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Highest &amp; Lowest Revenue Day of the Week  |  Tab: 🔝 HighLow Day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658368"/>
          <a:ext cx="8595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931920"/>
            <a:ext cx="4114800" cy="749808"/>
          </a:xfrm>
          <a:prstGeom prst="rect">
            <a:avLst/>
          </a:prstGeom>
          <a:solidFill>
            <a:srgbClr val="F0FDF4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39593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🟢  HIGHEST: Monday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320" y="423367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101,677  |  14.6% of weekly revenue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931920"/>
            <a:ext cx="4206240" cy="749808"/>
          </a:xfrm>
          <a:prstGeom prst="rect">
            <a:avLst/>
          </a:prstGeom>
          <a:solidFill>
            <a:srgbClr val="FEF2F2"/>
          </a:solidFill>
          <a:ln w="31750">
            <a:solidFill>
              <a:srgbClr val="EF444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395935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🔴  LOWEST: Sunday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423367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96,894  |  13.9% of weekly revenue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The spread between highest (Monday) and lowest (Sunday) is only R 4,783 — remarkably consistent daily footfall across all 7 days.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8595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 STRATEGIC RECOMMENDATIONS &amp; KEY TAKEAWAYS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F9731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4251960" cy="2926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7680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⏰  Maximise Morning Revenue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= 55.6% of revenue. Invest in morning staffing, loyalty cards, and breakfast bundles to sustain this peak window.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749808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06B6D4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251960" cy="2926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76809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🌙  Unlock Evening Potential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097280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= only 0.4% (R 2,936). Happy hour promotions and evening events could unlock a significant untapped revenue stream.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2139696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22C55E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2139696"/>
            <a:ext cx="4251960" cy="2926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215798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☕  Leverage Beverage Dominance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248716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+ Tea = 66.7% of revenue. Seasonal specials and premium roast launches can drive avg spend and transaction value higher.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139696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A855F7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139696"/>
            <a:ext cx="4251960" cy="2926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15798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🏪  Sustain Store 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stores within 1% of each other. Identify Hell's Kitchen best practices and replicate across Astoria and Lower Manhattan.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29584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3B82F6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529584"/>
            <a:ext cx="4251960" cy="2926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3547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📈  Capitalise on H1 Growth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87705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more than doubled Jan–Jun (+103.8%). Target slower months like Feb with proactive marketing campaigns to smooth the curve.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29584"/>
            <a:ext cx="4251960" cy="1261872"/>
          </a:xfrm>
          <a:prstGeom prst="rect">
            <a:avLst/>
          </a:prstGeom>
          <a:solidFill>
            <a:srgbClr val="FFFFFF"/>
          </a:solidFill>
          <a:ln w="31750">
            <a:solidFill>
              <a:srgbClr val="EC4899"/>
            </a:solidFill>
            <a:prstDash val="solid"/>
          </a:ln>
          <a:effectLst>
            <a:outerShdw blurRad="76200" dist="25400" dir="16200000" algn="bl" rotWithShape="0">
              <a:srgbClr val="94A3B8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09160" y="3529584"/>
            <a:ext cx="4251960" cy="2926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00600" y="354787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🥐  Grow </a:t>
            </a: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Attach 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877056"/>
            <a:ext cx="40690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at 11.8% has strong upsell potential. Coffee + pastry pairing promotions can meaningfully lift basket size and overall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0" y="438912"/>
            <a:ext cx="1828800" cy="18288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0" y="43891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☕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kern="0" spc="400" dirty="0">
                <a:solidFill>
                  <a:srgbClr val="1E3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BRIGHT COFFEE SHOP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3090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Analysis  |  January – June 2023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584448"/>
            <a:ext cx="548640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698,812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Transactions: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149,116 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Stores: </a:t>
            </a: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780</Words>
  <Application>Microsoft Macintosh PowerPoint</Application>
  <PresentationFormat>On-screen Show (16:9)</PresentationFormat>
  <Paragraphs>159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— KPI Dashboard</dc:title>
  <dc:subject>PptxGenJS Presentation</dc:subject>
  <dc:creator>PptxGenJS</dc:creator>
  <cp:lastModifiedBy>Nthabiseng Nkhatau</cp:lastModifiedBy>
  <cp:revision>4</cp:revision>
  <dcterms:created xsi:type="dcterms:W3CDTF">2026-03-31T20:48:05Z</dcterms:created>
  <dcterms:modified xsi:type="dcterms:W3CDTF">2026-04-16T16:13:14Z</dcterms:modified>
</cp:coreProperties>
</file>